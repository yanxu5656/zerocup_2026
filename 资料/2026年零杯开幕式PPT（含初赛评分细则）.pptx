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5" r:id="rId23"/>
    <p:sldId id="276" r:id="rId24"/>
    <p:sldId id="269" r:id="rId15"/>
    <p:sldId id="274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image" Target="../media/image15.jpeg"/><Relationship Id="rId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image" Target="../media/image17.jpeg"/><Relationship Id="rId6" Type="http://schemas.openxmlformats.org/officeDocument/2006/relationships/tags" Target="../tags/tag4.xml"/><Relationship Id="rId7" Type="http://schemas.openxmlformats.org/officeDocument/2006/relationships/image" Target="../media/image18.jpeg"/><Relationship Id="rId8" Type="http://schemas.openxmlformats.org/officeDocument/2006/relationships/tags" Target="../tags/tag5.xml"/><Relationship Id="rId9" Type="http://schemas.openxmlformats.org/officeDocument/2006/relationships/image" Target="../media/image19.jpeg"/><Relationship Id="rId1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jpeg"/><Relationship Id="rId3" Type="http://schemas.openxmlformats.org/officeDocument/2006/relationships/image" Target="../media/image26.png"/><Relationship Id="rId4" Type="http://schemas.openxmlformats.org/officeDocument/2006/relationships/image" Target="../media/image27.jpeg"/><Relationship Id="rId5" Type="http://schemas.openxmlformats.org/officeDocument/2006/relationships/image" Target="../media/image15.jpeg"/><Relationship Id="rId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jpeg"/><Relationship Id="rId3" Type="http://schemas.openxmlformats.org/officeDocument/2006/relationships/image" Target="../media/image31.jpeg"/><Relationship Id="rId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9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83069" y="2082865"/>
            <a:ext cx="6029325" cy="294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950" algn="l" rtl="0" eaLnBrk="0">
              <a:lnSpc>
                <a:spcPct val="93000"/>
              </a:lnSpc>
            </a:pPr>
            <a:r>
              <a:rPr sz="5500" b="1" kern="0" spc="-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“珞珈1024</a:t>
            </a:r>
            <a:endParaRPr sz="55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r" rtl="0" eaLnBrk="0">
              <a:lnSpc>
                <a:spcPct val="95000"/>
              </a:lnSpc>
              <a:spcBef>
                <a:spcPts val="10"/>
              </a:spcBef>
            </a:pPr>
            <a:r>
              <a:rPr sz="5500" b="1" kern="0" spc="2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程序员文化节</a:t>
            </a:r>
            <a:endParaRPr sz="55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6995" algn="l" rtl="0" eaLnBrk="0">
              <a:lnSpc>
                <a:spcPct val="78000"/>
              </a:lnSpc>
              <a:spcBef>
                <a:spcPts val="695"/>
              </a:spcBef>
            </a:pPr>
            <a:r>
              <a:rPr sz="2300" i="1" kern="0" spc="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LUOJIA</a:t>
            </a:r>
            <a:r>
              <a:rPr sz="2300" i="1" kern="0" spc="2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1024</a:t>
            </a:r>
            <a:r>
              <a:rPr sz="2300" i="1" kern="0" spc="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CHENGXUYUANWENHUAJIE</a:t>
            </a:r>
            <a:endParaRPr sz="2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4165" algn="l" rtl="0" eaLnBrk="0">
              <a:lnSpc>
                <a:spcPct val="92000"/>
              </a:lnSpc>
              <a:spcBef>
                <a:spcPts val="5"/>
              </a:spcBef>
            </a:pPr>
            <a:r>
              <a:rPr sz="2800" i="1" kern="0" spc="-1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202</a:t>
            </a:r>
            <a:r>
              <a:rPr lang="en-US" sz="2800" i="1" kern="0" spc="-1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6</a:t>
            </a:r>
            <a:r>
              <a:rPr sz="2800" kern="0" spc="23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 </a:t>
            </a:r>
            <a:r>
              <a:rPr sz="2800" i="1" kern="0" spc="-1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武汉大学第</a:t>
            </a:r>
            <a:r>
              <a:rPr lang="zh-CN" sz="2800" i="1" kern="0" spc="-1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三</a:t>
            </a:r>
            <a:r>
              <a:rPr sz="2800" i="1" kern="0" spc="-1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届程序</a:t>
            </a:r>
            <a:r>
              <a:rPr sz="2800" i="1" kern="0" spc="-1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员文化节</a:t>
            </a:r>
            <a:endParaRPr sz="28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60" y="2451117"/>
            <a:ext cx="2038380" cy="195576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4991160" y="2578127"/>
            <a:ext cx="5372039" cy="584164"/>
            <a:chOff x="0" y="0"/>
            <a:chExt cx="5372039" cy="58416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372039" cy="58416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5397500" cy="6648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11125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3200" b="1" i="1" kern="0" spc="-22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02.</a:t>
              </a:r>
              <a:r>
                <a:rPr sz="3200" kern="0" spc="-98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 </a:t>
              </a:r>
              <a:r>
                <a:rPr sz="3200" b="1" i="1" kern="0" spc="-22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“零杯”网页设计大赛</a:t>
              </a:r>
              <a:endParaRPr sz="3200" dirty="0">
                <a:latin typeface="宋体" pitchFamily="2" charset="-122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 rot="21600000">
            <a:off x="4984699" y="1473167"/>
            <a:ext cx="5372160" cy="558858"/>
            <a:chOff x="0" y="0"/>
            <a:chExt cx="5372160" cy="558858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372160" cy="558858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-12700" y="-12700"/>
              <a:ext cx="5398134" cy="642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1747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3200" b="1" i="1" kern="0" spc="-16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01.</a:t>
              </a:r>
              <a:r>
                <a:rPr sz="3200" kern="0" spc="-67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 </a:t>
              </a:r>
              <a:r>
                <a:rPr sz="3200" b="1" i="1" kern="0" spc="-16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1024程序员节</a:t>
              </a:r>
              <a:endParaRPr sz="3200" dirty="0">
                <a:latin typeface="宋体" pitchFamily="2" charset="-122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5" name="group 8"/>
          <p:cNvGrpSpPr/>
          <p:nvPr/>
        </p:nvGrpSpPr>
        <p:grpSpPr>
          <a:xfrm rot="21600000">
            <a:off x="4972018" y="3702016"/>
            <a:ext cx="5391181" cy="552480"/>
            <a:chOff x="0" y="0"/>
            <a:chExt cx="5391181" cy="55248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391181" cy="552480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-12700" y="-12700"/>
              <a:ext cx="5417184" cy="6362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7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0650" algn="l" rtl="0" eaLnBrk="0">
                <a:lnSpc>
                  <a:spcPct val="91000"/>
                </a:lnSpc>
              </a:pPr>
              <a:r>
                <a:rPr sz="3300" b="1" i="1" kern="0" spc="-220" dirty="0">
                  <a:solidFill>
                    <a:srgbClr val="FFFFFF">
                      <a:alpha val="100000"/>
                    </a:srgbClr>
                  </a:solidFill>
                  <a:latin typeface="宋体" pitchFamily="2" charset="-122"/>
                  <a:ea typeface="宋体" pitchFamily="2" charset="-122"/>
                  <a:cs typeface="宋体" pitchFamily="2" charset="-122"/>
                </a:rPr>
                <a:t>03.讲座环节</a:t>
              </a:r>
              <a:endParaRPr sz="3300" dirty="0">
                <a:latin typeface="宋体" pitchFamily="2" charset="-122"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999" cy="685800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246360" y="2849543"/>
            <a:ext cx="6006465" cy="939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6300" b="1" kern="0" spc="2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011024程序员节</a:t>
            </a:r>
            <a:endParaRPr sz="63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680219" y="1104879"/>
            <a:ext cx="4873625" cy="389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3400" algn="l" rtl="0" eaLnBrk="0">
              <a:lnSpc>
                <a:spcPct val="97000"/>
              </a:lnSpc>
              <a:tabLst>
                <a:tab pos="754380" algn="l"/>
              </a:tabLst>
            </a:pP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000" b="1" kern="0" spc="14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1024程序员节</a:t>
            </a:r>
            <a:endParaRPr sz="3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7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6840" algn="l" rtl="0" eaLnBrk="0">
              <a:lnSpc>
                <a:spcPct val="87000"/>
              </a:lnSpc>
              <a:spcBef>
                <a:spcPts val="520"/>
              </a:spcBef>
            </a:pP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</a:t>
            </a:r>
            <a:r>
              <a:rPr lang="en-US" sz="1700" b="1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0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24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代表的是2的</a:t>
            </a:r>
            <a:r>
              <a:rPr lang="zh-CN" sz="1700" b="1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十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次方，这是二</a:t>
            </a: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进制计数的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16840" algn="l" rtl="0" eaLnBrk="0">
              <a:lnSpc>
                <a:spcPct val="150000"/>
              </a:lnSpc>
              <a:spcBef>
                <a:spcPts val="20"/>
              </a:spcBef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基本计量单位之二。程序员就像是一个个1</a:t>
            </a:r>
            <a:r>
              <a:rPr lang="en-US" sz="1700" b="1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24,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以最低调、踏实、核心的功能模块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搭建起这个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科技世界。他们用代码改变世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界，让我们的生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活变得更加便捷和智能。在这个特殊的日子里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武汉大学将在珞珈山下为您奉上二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场精彩绝伦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的编程盛宴，让我们一起共度这个属于程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序员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的节日!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2919" y="1117579"/>
            <a:ext cx="520720" cy="520727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35320" y="4635527"/>
            <a:ext cx="781019" cy="787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1999" cy="6858000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-12700" y="2121535"/>
            <a:ext cx="8846820" cy="165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indent="-273050" algn="l" rtl="0" eaLnBrk="0">
              <a:lnSpc>
                <a:spcPct val="85000"/>
              </a:lnSpc>
            </a:pPr>
            <a:r>
              <a:rPr sz="6300" kern="0" spc="-40" dirty="0">
                <a:solidFill>
                  <a:srgbClr val="60506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02    </a:t>
            </a:r>
            <a:r>
              <a:rPr sz="5500" kern="0" spc="-4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“零杯”网页设计</a:t>
            </a:r>
            <a:r>
              <a:rPr sz="5500" kern="0" spc="-5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大</a:t>
            </a:r>
            <a:r>
              <a:rPr sz="6300" kern="0" spc="-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赛</a:t>
            </a:r>
            <a:endParaRPr sz="63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5041859" y="1004227"/>
            <a:ext cx="6404609" cy="5161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78100" algn="l" rtl="0" eaLnBrk="0">
              <a:lnSpc>
                <a:spcPct val="94000"/>
              </a:lnSpc>
            </a:pPr>
            <a:r>
              <a:rPr sz="2900" kern="0" spc="20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活动介绍</a:t>
            </a:r>
            <a:endParaRPr sz="29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20"/>
              </a:spcBef>
            </a:pPr>
            <a:r>
              <a:rPr sz="2900" kern="0" spc="2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202</a:t>
            </a:r>
            <a:r>
              <a:rPr lang="en-US" sz="2900" kern="0" spc="2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6</a:t>
            </a:r>
            <a:r>
              <a:rPr sz="2900" kern="0" spc="2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年“零杯”网页设计大赛是由计</a:t>
            </a:r>
            <a:r>
              <a:rPr sz="2900" kern="0" spc="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20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算机学院学生会学习部、</a:t>
            </a:r>
            <a:r>
              <a:rPr sz="2900" kern="0" spc="19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网络安全学</a:t>
            </a:r>
            <a:r>
              <a:rPr sz="2900" kern="0" spc="-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9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院学生会学习部和电</a:t>
            </a:r>
            <a:r>
              <a:rPr sz="2900" kern="0" spc="1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子信息学院学生</a:t>
            </a:r>
            <a:r>
              <a:rPr sz="29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9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会学习部共办的面向全校本科生的网</a:t>
            </a:r>
            <a:r>
              <a:rPr sz="2900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6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页设计比赛。</a:t>
            </a:r>
            <a:endParaRPr sz="29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12700" algn="l" rtl="0" eaLnBrk="0">
              <a:lnSpc>
                <a:spcPct val="99000"/>
              </a:lnSpc>
              <a:spcBef>
                <a:spcPts val="115"/>
              </a:spcBef>
            </a:pPr>
            <a:r>
              <a:rPr sz="2900" kern="0" spc="20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本赛事在学生群体中反响热烈，极大</a:t>
            </a:r>
            <a:r>
              <a:rPr sz="2900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激发了同学们对网页设计的热情和对</a:t>
            </a:r>
            <a:r>
              <a:rPr sz="2900" kern="0" spc="7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9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前端技术的追求。历年来，赛事产出</a:t>
            </a:r>
            <a:r>
              <a:rPr sz="2900" kern="0" spc="-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20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了数个设计匠心，审美优秀，使用前</a:t>
            </a:r>
            <a:r>
              <a:rPr sz="2900" kern="0" spc="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600" kern="0" spc="53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沿技术的网页设计，涌现出</a:t>
            </a:r>
            <a:r>
              <a:rPr sz="2600" kern="0" spc="5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了很多的</a:t>
            </a:r>
            <a:r>
              <a:rPr sz="2600" kern="0" spc="-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sz="2900" kern="0" spc="13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网页设计人才。</a:t>
            </a:r>
            <a:endParaRPr sz="29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009599" y="3903926"/>
            <a:ext cx="2145664" cy="1314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infinity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71500" algn="l" rtl="0" eaLnBrk="0">
              <a:lnSpc>
                <a:spcPts val="1430"/>
              </a:lnSpc>
              <a:spcBef>
                <a:spcPts val="225"/>
              </a:spcBef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Pre-match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eminar.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ct val="96000"/>
              </a:lnSpc>
              <a:spcBef>
                <a:spcPts val="1605"/>
              </a:spcBef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赛前讲座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425"/>
              </a:spcBef>
            </a:pP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10月</a:t>
            </a:r>
            <a:r>
              <a:rPr lang="en-US"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19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日1</a:t>
            </a:r>
            <a:r>
              <a:rPr lang="en-US"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en-US"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0一</a:t>
            </a:r>
            <a:r>
              <a:rPr lang="en-US"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en-US" sz="13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10"/>
              </a:spcBef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信息学部第一教学楼</a:t>
            </a:r>
            <a:r>
              <a:rPr lang="en-US" sz="1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425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教室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425699" y="5417034"/>
            <a:ext cx="1863725" cy="1051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600" kern="0" spc="60" baseline="-7000" dirty="0">
                <a:solidFill>
                  <a:srgbClr val="000000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O○○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Event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Organizers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05" algn="l" rtl="0" eaLnBrk="0">
              <a:lnSpc>
                <a:spcPct val="99000"/>
              </a:lnSpc>
              <a:spcBef>
                <a:spcPts val="1445"/>
              </a:spcBef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活动主办方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415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计算机学院学生会学习部&amp;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9000"/>
              </a:lnSpc>
              <a:spcBef>
                <a:spcPts val="20"/>
              </a:spcBef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国家网络安全学院学生会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学习部&amp;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电子信息学院学生会学习部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3581379" y="3907951"/>
            <a:ext cx="835660" cy="741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ts val="74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扫描上方二维码</a:t>
            </a:r>
            <a:endParaRPr sz="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CREATE   </a:t>
            </a:r>
            <a:r>
              <a:rPr sz="1100" kern="0" spc="20" baseline="-5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FREE</a:t>
            </a:r>
            <a:r>
              <a:rPr sz="1100" kern="0" spc="10" baseline="-50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</a:t>
            </a:r>
            <a:endParaRPr sz="1100" baseline="-5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643057" y="5832400"/>
            <a:ext cx="961389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</a:pPr>
            <a:r>
              <a:rPr sz="7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FLOw</a:t>
            </a:r>
            <a:endParaRPr sz="7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6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IMAGINATION</a:t>
            </a:r>
            <a:endParaRPr sz="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399999" y="3282691"/>
            <a:ext cx="624205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from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1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67000"/>
              </a:lnSpc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zero.</a:t>
            </a: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71760" y="1390665"/>
            <a:ext cx="279318" cy="292082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25460" y="6053208"/>
            <a:ext cx="50482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69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LET</a:t>
            </a:r>
            <a:endParaRPr sz="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253365" algn="l" rtl="0" eaLnBrk="0">
              <a:lnSpc>
                <a:spcPct val="86000"/>
              </a:lnSpc>
              <a:spcBef>
                <a:spcPts val="5"/>
              </a:spcBef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YOUR</a:t>
            </a: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" name="图片 1" descr="qrcode_1760412767797"/>
          <p:cNvPicPr>
            <a:picLocks noChangeAspect="1"/>
          </p:cNvPicPr>
          <p:nvPr/>
        </p:nvPicPr>
        <p:blipFill>
          <a:blip r:embed="rId3"/>
          <a:srcRect l="6527" t="30167" r="5755" b="25361"/>
          <a:stretch>
            <a:fillRect/>
          </a:stretch>
        </p:blipFill>
        <p:spPr>
          <a:xfrm>
            <a:off x="3369310" y="2916555"/>
            <a:ext cx="1079662" cy="972000"/>
          </a:xfrm>
          <a:prstGeom prst="rect">
            <a:avLst/>
          </a:prstGeom>
        </p:spPr>
      </p:pic>
      <p:pic>
        <p:nvPicPr>
          <p:cNvPr id="5" name="图片 4" descr="9FD58F3A344A4F95ABDA6FC29EBF47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" y="0"/>
            <a:ext cx="4530090" cy="6880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extbox 66"/>
          <p:cNvSpPr/>
          <p:nvPr>
            <p:custDataLst>
              <p:tags r:id="rId2"/>
            </p:custDataLst>
          </p:nvPr>
        </p:nvSpPr>
        <p:spPr>
          <a:xfrm>
            <a:off x="8026460" y="1389676"/>
            <a:ext cx="3369945" cy="3970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680" algn="l" rtl="0" eaLnBrk="0">
              <a:lnSpc>
                <a:spcPct val="95000"/>
              </a:lnSpc>
            </a:pPr>
            <a:r>
              <a:rPr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活动意义</a:t>
            </a:r>
            <a:endParaRPr sz="31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12700" algn="l" rtl="0" eaLnBrk="0">
              <a:lnSpc>
                <a:spcPct val="90000"/>
              </a:lnSpc>
              <a:spcBef>
                <a:spcPts val="1570"/>
              </a:spcBef>
            </a:pPr>
            <a:r>
              <a:rPr sz="1900" kern="0" spc="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借</a:t>
            </a:r>
            <a:r>
              <a:rPr sz="1900" kern="0" spc="-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en-US" sz="1900" kern="0" spc="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1900" kern="0" spc="4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24  </a:t>
            </a:r>
            <a:r>
              <a:rPr sz="1900" kern="0" spc="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程序员节的东风，让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9000"/>
              </a:lnSpc>
              <a:spcBef>
                <a:spcPts val="130"/>
              </a:spcBef>
            </a:pPr>
            <a:r>
              <a:rPr sz="1900" kern="0" spc="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学生通过网页设计大赛提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高自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己的设计能力，深挖参赛者们</a:t>
            </a:r>
            <a:r>
              <a:rPr sz="1900"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的创造力和学术能力，旨在给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武大学子展示自我，结交朋友</a:t>
            </a:r>
            <a:r>
              <a:rPr sz="1900"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与表达自己的机会，发扬武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的优良创新风气，增强团队合</a:t>
            </a:r>
            <a:r>
              <a:rPr sz="1900"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2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作意识。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textbox 68"/>
          <p:cNvSpPr/>
          <p:nvPr>
            <p:custDataLst>
              <p:tags r:id="rId3"/>
            </p:custDataLst>
          </p:nvPr>
        </p:nvSpPr>
        <p:spPr>
          <a:xfrm>
            <a:off x="1270020" y="1356348"/>
            <a:ext cx="3527425" cy="3585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3980" algn="l" rtl="0" eaLnBrk="0">
              <a:lnSpc>
                <a:spcPct val="95000"/>
              </a:lnSpc>
            </a:pPr>
            <a:r>
              <a:rPr sz="3100" b="1" kern="0" spc="-3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活动背景</a:t>
            </a:r>
            <a:endParaRPr sz="31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为促进计算机学院学风建设，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1000"/>
              </a:lnSpc>
              <a:spcBef>
                <a:spcPts val="90"/>
              </a:spcBef>
            </a:pP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丰富学生课余生活，激发学生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学习热情，提高学生网页设计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能力与实践能力，计算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机学院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学生会学习部特举办“零杯”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网页设计大赛，为广大武大学</a:t>
            </a:r>
            <a:r>
              <a:rPr sz="1900"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子提供二个展示自己的平台。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0" name="picture 7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21600000">
            <a:off x="4768900" y="2184410"/>
            <a:ext cx="2508260" cy="2508244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rot="21600000">
            <a:off x="641299" y="4171927"/>
            <a:ext cx="565221" cy="38103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rot="21600000">
            <a:off x="7410420" y="4216366"/>
            <a:ext cx="565220" cy="381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34420" y="546103"/>
            <a:ext cx="1924141" cy="2000272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33560" y="2247915"/>
            <a:ext cx="1644579" cy="1670060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4033255" y="307345"/>
            <a:ext cx="3854450" cy="612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000" b="1" kern="0" spc="28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活动时间及地点</a:t>
            </a:r>
            <a:endParaRPr sz="4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21339" y="3733769"/>
            <a:ext cx="1339900" cy="1384355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5194259" y="5401028"/>
            <a:ext cx="2637154" cy="735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900" kern="0" spc="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750" algn="l" rtl="0" eaLnBrk="0">
              <a:lnSpc>
                <a:spcPct val="99000"/>
              </a:lnSpc>
            </a:pPr>
            <a:r>
              <a:rPr sz="1900" kern="0" spc="2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10月</a:t>
            </a:r>
            <a:r>
              <a:rPr lang="en-US" sz="1900" kern="0" spc="2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</a:t>
            </a:r>
            <a:r>
              <a:rPr sz="1900" kern="0" spc="2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日-</a:t>
            </a:r>
            <a:r>
              <a:rPr sz="1900" kern="0" spc="-4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2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11月</a:t>
            </a:r>
            <a:r>
              <a:rPr sz="1900" kern="0" spc="2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en-US" sz="1900" kern="0" spc="2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sz="1900" kern="0" spc="2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8718600" y="2924535"/>
            <a:ext cx="2275839" cy="728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900" kern="0" spc="1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7000"/>
              </a:lnSpc>
              <a:spcBef>
                <a:spcPts val="5"/>
              </a:spcBef>
            </a:pPr>
            <a:r>
              <a:rPr sz="1900" kern="0" spc="2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11月</a:t>
            </a:r>
            <a:r>
              <a:rPr lang="en-US" sz="1900" kern="0" spc="2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22</a:t>
            </a:r>
            <a:r>
              <a:rPr sz="1900" kern="0" spc="2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日线下举行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022400" y="4365275"/>
            <a:ext cx="1553210" cy="718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讲座暨开幕式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80"/>
              </a:lnSpc>
            </a:pPr>
            <a:r>
              <a:rPr sz="1900" kern="0" spc="3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10月</a:t>
            </a:r>
            <a:r>
              <a:rPr lang="en-US" sz="1900" kern="0" spc="3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</a:t>
            </a:r>
            <a:r>
              <a:rPr sz="1900" kern="0" spc="3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2350" y="5260340"/>
            <a:ext cx="3134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地点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区</a:t>
            </a:r>
            <a:r>
              <a:rPr lang="en-US" altLang="zh-CN">
                <a:solidFill>
                  <a:schemeClr val="bg1"/>
                </a:solidFill>
              </a:rPr>
              <a:t>1-426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4642535" y="1473402"/>
            <a:ext cx="2336164" cy="405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72415" algn="l" rtl="0" eaLnBrk="0">
              <a:lnSpc>
                <a:spcPct val="85000"/>
              </a:lnSpc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O&lt;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ZERO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CUP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/&gt;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050" algn="l" rtl="0" eaLnBrk="0">
              <a:lnSpc>
                <a:spcPct val="95000"/>
              </a:lnSpc>
              <a:spcBef>
                <a:spcPts val="295"/>
              </a:spcBef>
              <a:tabLst>
                <a:tab pos="1184275" algn="l"/>
              </a:tabLst>
            </a:pPr>
            <a:r>
              <a:rPr sz="3800" b="1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零杯</a:t>
            </a:r>
            <a:r>
              <a:rPr sz="3800" u="dotted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0000"/>
              </a:lnSpc>
              <a:spcBef>
                <a:spcPts val="575"/>
              </a:spcBef>
            </a:pPr>
            <a:r>
              <a:rPr sz="1900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网页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设计大赛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23265" algn="l" rtl="0" eaLnBrk="0">
              <a:lnSpc>
                <a:spcPct val="76000"/>
              </a:lnSpc>
              <a:spcBef>
                <a:spcPts val="28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Oinfinity.</a:t>
            </a:r>
            <a:endParaRPr sz="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003300" algn="l" rtl="0" eaLnBrk="0">
              <a:lnSpc>
                <a:spcPts val="1310"/>
              </a:lnSpc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8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Pre-match seminar.</a:t>
            </a: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05155" algn="l" rtl="0" eaLnBrk="0">
              <a:lnSpc>
                <a:spcPct val="99000"/>
              </a:lnSpc>
              <a:spcBef>
                <a:spcPts val="1325"/>
              </a:spcBef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赛前讲座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02615" algn="l" rtl="0" eaLnBrk="0">
              <a:lnSpc>
                <a:spcPct val="100000"/>
              </a:lnSpc>
              <a:spcBef>
                <a:spcPts val="390"/>
              </a:spcBef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10月</a:t>
            </a:r>
            <a:r>
              <a:rPr lang="en-US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19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日1</a:t>
            </a:r>
            <a:r>
              <a:rPr lang="en-US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en-US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</a:t>
            </a:r>
            <a:r>
              <a:rPr sz="900"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lang="en-US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</a:t>
            </a:r>
            <a:r>
              <a:rPr lang="zh-CN" altLang="en-US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00</a:t>
            </a:r>
            <a:endParaRPr lang="en-US" sz="900" kern="0" spc="-25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02615" algn="l" rtl="0" eaLnBrk="0">
              <a:lnSpc>
                <a:spcPct val="100000"/>
              </a:lnSpc>
              <a:spcBef>
                <a:spcPts val="390"/>
              </a:spcBef>
            </a:pPr>
            <a:r>
              <a:rPr lang="en-US" sz="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</a:t>
            </a:r>
            <a:r>
              <a:rPr lang="en-US" altLang="zh-CN" sz="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201教室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100000"/>
              </a:lnSpc>
              <a:spcBef>
                <a:spcPts val="0"/>
              </a:spcBef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活动主办方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314660" y="2218584"/>
            <a:ext cx="3298825" cy="2204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88720" algn="l" rtl="0" eaLnBrk="0">
              <a:lnSpc>
                <a:spcPct val="95000"/>
              </a:lnSpc>
            </a:pPr>
            <a:r>
              <a:rPr sz="2700" b="1" kern="0" spc="-5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零组</a:t>
            </a:r>
            <a:endParaRPr sz="27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  <a:spcBef>
                <a:spcPts val="580"/>
              </a:spcBef>
            </a:pP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参赛人员：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3025" indent="57150" algn="l" rtl="0" eaLnBrk="0">
              <a:lnSpc>
                <a:spcPct val="136000"/>
              </a:lnSpc>
              <a:spcBef>
                <a:spcPts val="15"/>
              </a:spcBef>
            </a:pPr>
            <a:r>
              <a:rPr sz="2000" i="1" kern="0" spc="-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计算机学院、网络安全</a:t>
            </a:r>
            <a:r>
              <a:rPr sz="2000" i="1" kern="0" spc="-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学院、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i="1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和电子信息学院大一新生</a:t>
            </a:r>
            <a:r>
              <a:rPr sz="2000" i="1" kern="0" spc="-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4930" algn="l" rtl="0" eaLnBrk="0">
              <a:lnSpc>
                <a:spcPct val="93000"/>
              </a:lnSpc>
              <a:spcBef>
                <a:spcPts val="5"/>
              </a:spcBef>
            </a:pPr>
            <a:r>
              <a:rPr sz="2000" b="1" i="1" kern="0" spc="-1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其他学院的学生。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796370" y="2247217"/>
            <a:ext cx="2981960" cy="2207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53795" algn="l" rtl="0" eaLnBrk="0">
              <a:lnSpc>
                <a:spcPct val="97000"/>
              </a:lnSpc>
            </a:pP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壹组</a:t>
            </a:r>
            <a:endParaRPr sz="27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1430"/>
              </a:spcBef>
            </a:pPr>
            <a:r>
              <a:rPr sz="1900" b="1" i="1" kern="0" spc="-1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参赛人员：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2000"/>
              </a:lnSpc>
              <a:spcBef>
                <a:spcPts val="1085"/>
              </a:spcBef>
            </a:pPr>
            <a:r>
              <a:rPr sz="2000" b="1" i="1" kern="0" spc="-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所有含计算机学院、网络安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1590" indent="22860" algn="l" rtl="0" eaLnBrk="0">
              <a:lnSpc>
                <a:spcPct val="152000"/>
              </a:lnSpc>
              <a:spcBef>
                <a:spcPts val="15"/>
              </a:spcBef>
            </a:pPr>
            <a:r>
              <a:rPr sz="2000" b="1" i="1" kern="0" spc="-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全学院和电子信息学院大二</a:t>
            </a:r>
            <a:r>
              <a:rPr sz="2000" kern="0" spc="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b="1" i="1" kern="0" spc="-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及以上学生组。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4330144" y="226326"/>
            <a:ext cx="3848100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200" b="1" kern="0" spc="-4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分组安排：每组1~4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人</a:t>
            </a:r>
            <a:endParaRPr sz="32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88539" y="1473167"/>
            <a:ext cx="660440" cy="679490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24000" y="1511297"/>
            <a:ext cx="647761" cy="647669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7486599" y="1746044"/>
            <a:ext cx="144145" cy="13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22</a:t>
            </a:r>
            <a:endParaRPr sz="9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" name="图片 1" descr="1A6840E7FF8A285C1C9D3026171BAB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1313180"/>
            <a:ext cx="3764280" cy="5006975"/>
          </a:xfrm>
          <a:prstGeom prst="rect">
            <a:avLst/>
          </a:prstGeom>
        </p:spPr>
      </p:pic>
      <p:pic>
        <p:nvPicPr>
          <p:cNvPr id="5" name="图片 4" descr="9FD58F3A344A4F95ABDA6FC29EBF47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065" y="957580"/>
            <a:ext cx="3764915" cy="5718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  <a:effectLst>
            <a:glow rad="889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10" name="textbox 110"/>
          <p:cNvSpPr/>
          <p:nvPr/>
        </p:nvSpPr>
        <p:spPr>
          <a:xfrm>
            <a:off x="6680219" y="1104879"/>
            <a:ext cx="4801234" cy="4148454"/>
          </a:xfrm>
          <a:prstGeom prst="rect">
            <a:avLst/>
          </a:prstGeom>
          <a:noFill/>
          <a:ln w="0" cap="flat"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  <a:prstDash val="solid"/>
            <a:miter lim="0"/>
          </a:ln>
          <a:effectLst>
            <a:glow rad="63500">
              <a:schemeClr val="accent5">
                <a:satMod val="175000"/>
                <a:alpha val="40000"/>
              </a:schemeClr>
            </a:glow>
            <a:reflection stA="45000" endPos="65000" dist="38100" dir="5400000" sy="-100000" algn="bl" rotWithShape="0"/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3400" algn="l" rtl="0" eaLnBrk="0">
              <a:lnSpc>
                <a:spcPct val="85000"/>
              </a:lnSpc>
              <a:tabLst>
                <a:tab pos="755015" algn="l"/>
              </a:tabLst>
            </a:pP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100" b="1" kern="0" spc="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主题一</a:t>
            </a:r>
            <a:endParaRPr sz="31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71475" algn="l" rtl="0" eaLnBrk="0">
              <a:lnSpc>
                <a:spcPts val="3445"/>
              </a:lnSpc>
            </a:pPr>
            <a:r>
              <a:rPr lang="zh-CN" altLang="en-US" sz="16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主题：市井烟火·百味人间</a:t>
            </a:r>
            <a:endParaRPr lang="zh-CN" altLang="en-US" sz="1600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71475" algn="l" rtl="0" eaLnBrk="0">
              <a:lnSpc>
                <a:spcPts val="3445"/>
              </a:lnSpc>
            </a:pPr>
            <a:endParaRPr lang="en-US" altLang="zh-CN" sz="1600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71475" algn="l" rtl="0" eaLnBrk="0">
              <a:lnSpc>
                <a:spcPts val="3445"/>
              </a:lnSpc>
            </a:pPr>
            <a:r>
              <a:rPr lang="zh-CN" altLang="en-US" sz="16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描述：清晨的菜市场里，摊贩的吆喝声此起彼伏，刚出笼的包子冒着热气；深夜的烧烤摊前，炭火映红了一张张疲惫却满足的脸。一条老街，半城记忆，市井烟火里藏着最真实的人间百态。为记录这份平凡日子里的温度与生机，请以“市井烟火·百味人间”为主题，开展网页设计。</a:t>
            </a:r>
            <a:endParaRPr lang="zh-CN" altLang="en-US" sz="1600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2919" y="1117579"/>
            <a:ext cx="520720" cy="520727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35320" y="4635527"/>
            <a:ext cx="781019" cy="787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6673880" y="1111257"/>
            <a:ext cx="5182870" cy="4662170"/>
          </a:xfrm>
          <a:prstGeom prst="rect">
            <a:avLst/>
          </a:prstGeom>
          <a:noFill/>
          <a:ln w="28575" cap="flat" cmpd="sng">
            <a:solidFill>
              <a:schemeClr val="accent1">
                <a:shade val="50000"/>
              </a:schemeClr>
            </a:solidFill>
            <a:prstDash val="sysDot"/>
            <a:miter lim="0"/>
          </a:ln>
          <a:effectLst>
            <a:glow rad="1879600">
              <a:srgbClr val="7030A0">
                <a:alpha val="18000"/>
              </a:srgbClr>
            </a:glow>
            <a:outerShdw blurRad="596900" dist="1028700" dir="2700000" sx="150000" sy="150000" algn="tl" rotWithShape="0">
              <a:srgbClr val="7030A0">
                <a:alpha val="40000"/>
              </a:srgbClr>
            </a:outerShdw>
            <a:reflection blurRad="685800" stA="36000" endA="300" endPos="90000" dist="762000" dir="5400000" sy="-100000" algn="bl" rotWithShape="0"/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9750"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tabLst>
                <a:tab pos="755650" algn="l"/>
              </a:tabLst>
            </a:pP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100" kern="0" spc="3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主题二</a:t>
            </a:r>
            <a:endParaRPr sz="31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3665"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u="sng" dirty="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主题：匠心传成，非遗焕新</a:t>
            </a:r>
            <a:endParaRPr lang="zh-CN" altLang="en-US" sz="2000" u="sng" dirty="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3665"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u="sng" dirty="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描述：一针一线绣出千年风华，一刀一刻雕琢岁月温度，非遗技艺是中华文明跳动的脉搏。本次大赛邀你用现代网页语言，为传统工艺打开崭新窗口——非遗数字展馆、匠人故事专题、技艺互动体验页面，皆是你的舞台。以代码续写古老技艺，以创意点亮文化薪火，让传统在指尖流转中焕发蓬勃新生。</a:t>
            </a:r>
            <a:endParaRPr lang="zh-CN" altLang="en-US" sz="2000" u="sng" dirty="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3665" algn="l" rtl="0" ea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u="sng" dirty="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6580" y="1123957"/>
            <a:ext cx="527060" cy="51435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39" y="1803379"/>
            <a:ext cx="6108679" cy="3619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6680200" y="1104900"/>
            <a:ext cx="4894580" cy="4672330"/>
          </a:xfrm>
          <a:prstGeom prst="rect">
            <a:avLst/>
          </a:prstGeom>
          <a:noFill/>
          <a:ln w="0" cap="flat">
            <a:solidFill>
              <a:schemeClr val="accent3">
                <a:lumMod val="20000"/>
                <a:lumOff val="80000"/>
              </a:schemeClr>
            </a:solidFill>
            <a:prstDash val="solid"/>
            <a:miter lim="0"/>
          </a:ln>
          <a:effectLst>
            <a:glow rad="139700">
              <a:schemeClr val="accent5">
                <a:satMod val="175000"/>
                <a:alpha val="40000"/>
              </a:schemeClr>
            </a:glow>
            <a:reflection stA="28000" endA="300" endPos="26000" dir="5400000" sy="-100000" algn="bl" rotWithShape="0"/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3400" algn="l" rtl="0" eaLnBrk="0">
              <a:lnSpc>
                <a:spcPct val="85000"/>
              </a:lnSpc>
              <a:spcBef>
                <a:spcPts val="5"/>
              </a:spcBef>
              <a:tabLst>
                <a:tab pos="767080" algn="l"/>
              </a:tabLst>
            </a:pPr>
            <a:r>
              <a:rPr sz="30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000" b="1" kern="0" spc="6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主题三</a:t>
            </a:r>
            <a:endParaRPr sz="30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77825" algn="l" rtl="0" eaLnBrk="0">
              <a:lnSpc>
                <a:spcPts val="3555"/>
              </a:lnSpc>
            </a:pPr>
            <a:r>
              <a:rPr lang="zh-CN" altLang="en-US" i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主题：长征万里，薪火千秋</a:t>
            </a:r>
            <a:endParaRPr lang="zh-CN" altLang="en-US" i="1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77825" algn="l" rtl="0" eaLnBrk="0">
              <a:lnSpc>
                <a:spcPts val="3555"/>
              </a:lnSpc>
            </a:pPr>
            <a:r>
              <a:rPr lang="zh-CN" altLang="en-US" i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描述： 九十年前，红军战士脚穿草鞋、怀揣星火，以双腿丈量二万五千里的生死征途，翻越夹金山皑皑雪岭，走过水草地茫茫泽国，在围追堵截中把信仰火种播撒成照亮民族前路的不灭光焰。今年是红军长征胜利九十周年，为了在数字时代传承这段热血铸就的长征精神，请以“长征万里，薪火千秋”为主题，开展网页设计。</a:t>
            </a:r>
            <a:endParaRPr lang="zh-CN" altLang="en-US" i="1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2919" y="1117579"/>
            <a:ext cx="520720" cy="520727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35320" y="4635527"/>
            <a:ext cx="774679" cy="787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271933" y="2795647"/>
            <a:ext cx="4323715" cy="153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6300" b="1" kern="0" spc="36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0</a:t>
            </a:r>
            <a:r>
              <a:rPr lang="en-US" sz="6300" b="1" kern="0" spc="36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3</a:t>
            </a:r>
            <a:r>
              <a:rPr sz="6300" b="1" kern="0" spc="36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讲座环节</a:t>
            </a:r>
            <a:endParaRPr sz="63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0170" algn="l" rtl="0" eaLnBrk="0">
              <a:lnSpc>
                <a:spcPct val="77000"/>
              </a:lnSpc>
              <a:spcBef>
                <a:spcPts val="5"/>
              </a:spcBef>
            </a:pPr>
            <a:r>
              <a:rPr sz="2400" b="1" i="1" kern="0" spc="-7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JIANGZUOHUANJIE</a:t>
            </a:r>
            <a:endParaRPr sz="24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6786047" y="2113796"/>
            <a:ext cx="4249420" cy="2545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计算机学院202</a:t>
            </a:r>
            <a:r>
              <a:rPr lang="en-US"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本科生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4400"/>
              </a:lnSpc>
            </a:pPr>
            <a:endParaRPr lang="en-US" sz="23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l" rtl="0" eaLnBrk="0">
              <a:lnSpc>
                <a:spcPts val="4400"/>
              </a:lnSpc>
            </a:pPr>
            <a:r>
              <a:rPr lang="en-US" sz="23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2025</a:t>
            </a:r>
            <a:r>
              <a:rPr lang="zh-CN" altLang="en-US" sz="23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年零杯网页设计大赛</a:t>
            </a:r>
            <a:r>
              <a:rPr lang="zh-CN" altLang="en-US" sz="23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零组一等奖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4400"/>
              </a:lnSpc>
            </a:pP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680200" y="1104900"/>
            <a:ext cx="3975735" cy="617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3400" algn="l" rtl="0" eaLnBrk="0">
              <a:lnSpc>
                <a:spcPct val="96000"/>
              </a:lnSpc>
              <a:tabLst>
                <a:tab pos="748030" algn="l"/>
              </a:tabLst>
            </a:pP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主讲人：</a:t>
            </a:r>
            <a:r>
              <a:rPr lang="zh-CN"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陈嘉</a:t>
            </a:r>
            <a:r>
              <a:rPr lang="zh-CN"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龙</a:t>
            </a:r>
            <a:endParaRPr lang="zh-CN" sz="3100" b="1" kern="0" spc="-20" dirty="0">
              <a:solidFill>
                <a:srgbClr val="FFFFFF">
                  <a:alpha val="100000"/>
                </a:srgbClr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2919" y="1117579"/>
            <a:ext cx="520720" cy="51435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28980" y="4629150"/>
            <a:ext cx="774679" cy="7873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6855897" y="2083951"/>
            <a:ext cx="4249420" cy="2545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计算机学院202</a:t>
            </a:r>
            <a:r>
              <a:rPr lang="en-US"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本科生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490"/>
              </a:spcBef>
            </a:pPr>
            <a:endParaRPr lang="zh-CN" sz="23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4400"/>
              </a:lnSpc>
            </a:pPr>
            <a:r>
              <a:rPr 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年零杯网页设计大赛壹组一等奖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680200" y="1104900"/>
            <a:ext cx="4090670" cy="617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33400" algn="l" rtl="0" eaLnBrk="0">
              <a:lnSpc>
                <a:spcPct val="96000"/>
              </a:lnSpc>
              <a:tabLst>
                <a:tab pos="748030" algn="l"/>
              </a:tabLst>
            </a:pP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	</a:t>
            </a:r>
            <a:r>
              <a:rPr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主讲人：</a:t>
            </a:r>
            <a:r>
              <a:rPr lang="zh-CN" sz="3100" b="1" kern="0" spc="-2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刘畅</a:t>
            </a:r>
            <a:endParaRPr lang="zh-CN" sz="3100" b="1" kern="0" spc="-20" dirty="0">
              <a:solidFill>
                <a:srgbClr val="FFFFFF">
                  <a:alpha val="100000"/>
                </a:srgbClr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2919" y="1117579"/>
            <a:ext cx="520720" cy="51435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28980" y="4629150"/>
            <a:ext cx="774679" cy="7873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39" y="1752630"/>
            <a:ext cx="6121359" cy="3676642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8807480" y="1749445"/>
            <a:ext cx="1470025" cy="43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05" algn="l" rtl="0" eaLnBrk="0">
              <a:lnSpc>
                <a:spcPct val="88000"/>
              </a:lnSpc>
            </a:pP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8604239" y="5707430"/>
            <a:ext cx="1348739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扫一扫二维码，加入群聊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139190"/>
            <a:ext cx="4023995" cy="49225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53910" y="1262380"/>
            <a:ext cx="6096000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33400" algn="l" rtl="0" eaLnBrk="0">
              <a:lnSpc>
                <a:spcPct val="96000"/>
              </a:lnSpc>
              <a:tabLst>
                <a:tab pos="748030" algn="l"/>
              </a:tabLst>
            </a:pPr>
            <a:r>
              <a:rPr lang="zh-CN" altLang="en-US" sz="3100" b="1" kern="0" spc="-20" dirty="0">
                <a:solidFill>
                  <a:schemeClr val="accent5">
                    <a:alpha val="100000"/>
                  </a:schemeClr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群号</a:t>
            </a:r>
            <a:r>
              <a:rPr lang="en-US" altLang="zh-CN" sz="3100" b="1" kern="0" spc="-20" dirty="0">
                <a:solidFill>
                  <a:schemeClr val="accent5">
                    <a:alpha val="100000"/>
                  </a:schemeClr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:1026232938</a:t>
            </a:r>
            <a:endParaRPr lang="en-US" altLang="zh-CN" sz="3100" b="1" kern="0" spc="-20" dirty="0">
              <a:solidFill>
                <a:schemeClr val="accent5">
                  <a:alpha val="100000"/>
                </a:schemeClr>
              </a:solidFill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5694449" y="-28244"/>
            <a:ext cx="5219700" cy="4782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9270" algn="l" rtl="0" eaLnBrk="0">
              <a:lnSpc>
                <a:spcPct val="97000"/>
              </a:lnSpc>
            </a:pPr>
            <a:r>
              <a:rPr sz="5900" kern="0" spc="-10" dirty="0">
                <a:solidFill>
                  <a:srgbClr val="000000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络</a:t>
            </a:r>
            <a:endParaRPr sz="59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1835"/>
              </a:spcBef>
            </a:pPr>
            <a:r>
              <a:rPr sz="6100" b="1" kern="0" spc="150" dirty="0">
                <a:solidFill>
                  <a:srgbClr val="FFFFFF">
                    <a:alpha val="100000"/>
                  </a:srgbClr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欢迎大家参赛!</a:t>
            </a:r>
            <a:endParaRPr sz="61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31470" algn="l" rtl="0" eaLnBrk="0">
              <a:lnSpc>
                <a:spcPct val="79000"/>
              </a:lnSpc>
              <a:spcBef>
                <a:spcPts val="700"/>
              </a:spcBef>
            </a:pP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THANKS FOR YOUR</a:t>
            </a:r>
            <a:r>
              <a:rPr sz="23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LISTENING</a:t>
            </a:r>
            <a:endParaRPr sz="2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5270" algn="l" rtl="0" eaLnBrk="0">
              <a:lnSpc>
                <a:spcPct val="77000"/>
              </a:lnSpc>
              <a:spcBef>
                <a:spcPts val="5"/>
              </a:spcBef>
            </a:pPr>
            <a:r>
              <a:rPr sz="30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202</a:t>
            </a:r>
            <a:r>
              <a:rPr lang="en-US" sz="30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</a:t>
            </a:r>
            <a:r>
              <a:rPr sz="30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.10.</a:t>
            </a:r>
            <a:r>
              <a:rPr lang="en-US" sz="3000" kern="0" spc="-10" dirty="0">
                <a:solidFill>
                  <a:srgbClr val="FFFFF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15</a:t>
            </a:r>
            <a:endParaRPr lang="en-US" sz="3000" kern="0" spc="-10" dirty="0">
              <a:solidFill>
                <a:srgbClr val="FFFFFF">
                  <a:alpha val="100000"/>
                </a:srgbClr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A8FF"/>
                </a:solidFill>
                <a:latin typeface="Consolas"/>
                <a:ea typeface="宋体"/>
              </a:rPr>
              <a:t>&lt;score-check/&gt;  附件四 · 初赛评分细则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10058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rial"/>
                <a:ea typeface="宋体"/>
              </a:rPr>
              <a:t>五维评分体系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88720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B8F0"/>
                </a:solidFill>
                <a:latin typeface="Arial"/>
                <a:ea typeface="宋体"/>
              </a:rPr>
              <a:t>评分维度与分值权重　·　零组总分 100 分　｜　一组总分 110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创意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9397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855F7"/>
                </a:solidFill>
                <a:latin typeface="Consolas"/>
                <a:ea typeface="宋体"/>
              </a:rPr>
              <a:t>creative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11095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2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11095"/>
            <a:ext cx="1595120" cy="3017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865376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10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68879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3405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86BF0"/>
                </a:solidFill>
                <a:latin typeface="Consolas"/>
                <a:ea typeface="宋体"/>
              </a:rPr>
              <a:t>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51176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2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88920" y="2551176"/>
            <a:ext cx="3190240" cy="301752"/>
          </a:xfrm>
          <a:prstGeom prst="roundRect">
            <a:avLst>
              <a:gd name="adj" fmla="val 50000"/>
            </a:avLst>
          </a:prstGeom>
          <a:solidFill>
            <a:srgbClr val="C8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2505456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20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08959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74135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472B6"/>
                </a:solidFill>
                <a:latin typeface="Consolas"/>
                <a:ea typeface="宋体"/>
              </a:rPr>
              <a:t>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191256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2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191256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3145535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45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49039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014215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C6BD6"/>
                </a:solidFill>
                <a:latin typeface="Consolas"/>
                <a:ea typeface="宋体"/>
              </a:rPr>
              <a:t>document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831335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2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88920" y="3831335"/>
            <a:ext cx="797560" cy="301752"/>
          </a:xfrm>
          <a:prstGeom prst="roundRect">
            <a:avLst>
              <a:gd name="adj" fmla="val 50000"/>
            </a:avLst>
          </a:prstGeom>
          <a:solidFill>
            <a:srgbClr val="7C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3785615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5 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0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宋体"/>
              </a:rPr>
              <a:t>技术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65429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5CF6"/>
                </a:solidFill>
                <a:latin typeface="Consolas"/>
                <a:ea typeface="宋体"/>
              </a:rPr>
              <a:t>technology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471416"/>
            <a:ext cx="7178040" cy="301752"/>
          </a:xfrm>
          <a:prstGeom prst="roundRect">
            <a:avLst>
              <a:gd name="adj" fmla="val 50000"/>
            </a:avLst>
          </a:prstGeom>
          <a:solidFill>
            <a:srgbClr val="2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88920" y="4471416"/>
            <a:ext cx="3190240" cy="3017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79160" y="4471416"/>
            <a:ext cx="1595120" cy="301752"/>
          </a:xfrm>
          <a:prstGeom prst="roundRect">
            <a:avLst>
              <a:gd name="adj" fmla="val 50000"/>
            </a:avLst>
          </a:prstGeom>
          <a:solidFill>
            <a:srgbClr val="6D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4425696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  <a:ea typeface="宋体"/>
              </a:rPr>
              <a:t>20 ／ 30 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74336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472B6"/>
                </a:solidFill>
                <a:latin typeface="Arial"/>
                <a:ea typeface="宋体"/>
              </a:rPr>
              <a:t>+ 加分项　</a:t>
            </a:r>
            <a:r>
              <a:rPr sz="1350" b="0">
                <a:solidFill>
                  <a:srgbClr val="FFFFFF"/>
                </a:solidFill>
                <a:latin typeface="Arial"/>
                <a:ea typeface="宋体"/>
              </a:rPr>
              <a:t>移动端适配 ／ 数据后台　——　经技术人员判定有效，每项 +5～10 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431536"/>
            <a:ext cx="5440680" cy="713232"/>
          </a:xfrm>
          <a:prstGeom prst="roundRect">
            <a:avLst>
              <a:gd name="adj" fmla="val 14000"/>
            </a:avLst>
          </a:prstGeom>
          <a:solidFill>
            <a:srgbClr val="2B1A57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  <a:ea typeface="宋体"/>
              </a:rPr>
              <a:t>零组　</a:t>
            </a:r>
            <a:r>
              <a:rPr sz="2000" b="1">
                <a:solidFill>
                  <a:srgbClr val="F9D5FF"/>
                </a:solidFill>
                <a:latin typeface="Arial"/>
                <a:ea typeface="宋体"/>
              </a:rPr>
              <a:t>总分 100 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5431536"/>
            <a:ext cx="5440680" cy="713232"/>
          </a:xfrm>
          <a:prstGeom prst="roundRect">
            <a:avLst>
              <a:gd name="adj" fmla="val 14000"/>
            </a:avLst>
          </a:prstGeom>
          <a:solidFill>
            <a:srgbClr val="2B1A57"/>
          </a:solidFill>
          <a:ln w="15875">
            <a:solidFill>
              <a:srgbClr val="BE3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  <a:ea typeface="宋体"/>
              </a:rPr>
              <a:t>一组　</a:t>
            </a:r>
            <a:r>
              <a:rPr sz="2000" b="1">
                <a:solidFill>
                  <a:srgbClr val="F9D5FF"/>
                </a:solidFill>
                <a:latin typeface="Arial"/>
                <a:ea typeface="宋体"/>
              </a:rPr>
              <a:t>总分 110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272784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8AD0"/>
                </a:solidFill>
                <a:latin typeface="Consolas"/>
                <a:ea typeface="宋体"/>
              </a:rPr>
              <a:t>// 总分 = 10 + 20 + 45 + 5 + 20 = 100（零组）　｜　10 + 20 + 45 + 5 + 30 = 110（一组）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A8FF"/>
                </a:solidFill>
                <a:latin typeface="Consolas"/>
                <a:ea typeface="宋体"/>
              </a:rPr>
              <a:t>&lt;criteria/&gt;  初赛评分档位速查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10058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rial"/>
                <a:ea typeface="宋体"/>
              </a:rPr>
              <a:t>各维度评分档位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88720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B8F0"/>
                </a:solidFill>
                <a:latin typeface="Arial"/>
                <a:ea typeface="宋体"/>
              </a:rPr>
              <a:t>档位由低到高排列　·　评委按选手实际表现对应档位给分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55648"/>
          <a:ext cx="11183112" cy="4704588"/>
        </p:xfrm>
        <a:graphic>
          <a:graphicData uri="http://schemas.openxmlformats.org/drawingml/2006/table">
            <a:tbl>
              <a:tblPr/>
              <a:tblGrid>
                <a:gridCol w="1371600"/>
                <a:gridCol w="2788920"/>
                <a:gridCol w="1234440"/>
                <a:gridCol w="578815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维度</a:t>
                      </a:r>
                    </a:p>
                  </a:txBody>
                  <a:tcPr marL="73152" marR="73152" marT="13716" marB="13716" anchor="ctr">
                    <a:lnB w="12700" cap="flat" cmpd="sng" algn="ctr">
                      <a:solidFill>
                        <a:srgbClr val="D8B4FE"/>
                      </a:solidFill>
                    </a:lnB>
                    <a:solidFill>
                      <a:srgbClr val="9B4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细分项</a:t>
                      </a:r>
                    </a:p>
                  </a:txBody>
                  <a:tcPr marL="73152" marR="73152" marT="13716" marB="13716" anchor="ctr">
                    <a:lnB w="12700" cap="flat" cmpd="sng" algn="ctr">
                      <a:solidFill>
                        <a:srgbClr val="D8B4FE"/>
                      </a:solidFill>
                    </a:lnB>
                    <a:solidFill>
                      <a:srgbClr val="9B4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分值</a:t>
                      </a:r>
                    </a:p>
                  </a:txBody>
                  <a:tcPr marL="73152" marR="73152" marT="13716" marB="13716" anchor="ctr">
                    <a:lnB w="12700" cap="flat" cmpd="sng" algn="ctr">
                      <a:solidFill>
                        <a:srgbClr val="D8B4FE"/>
                      </a:solidFill>
                    </a:lnB>
                    <a:solidFill>
                      <a:srgbClr val="9B4D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评分档位（由低到高）</a:t>
                      </a:r>
                    </a:p>
                  </a:txBody>
                  <a:tcPr marL="73152" marR="73152" marT="13716" marB="13716" anchor="ctr">
                    <a:lnB w="12700" cap="flat" cmpd="sng" algn="ctr">
                      <a:solidFill>
                        <a:srgbClr val="D8B4FE"/>
                      </a:solidFill>
                    </a:lnB>
                    <a:solidFill>
                      <a:srgbClr val="9B4DE0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创意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10 分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创意与创新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2–10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上世纪的创意 2 → 中规中矩 4 → 有所创新 6 → 眼前一亮 8 → 创新鬼才 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 rowSpan="3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功能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20 分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功能丰富性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网页的功能是否丰富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流畅性与实用性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反人类 1 → 有操作障碍 2 → 正常操作 3 → 行云流水 4 → 十分易用 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内容充实度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不健康 -5 → 宛如白板 1 → 复读机 2 → 图文并茂 3 → 真实网站 4 → 丰富多彩 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 rowSpan="5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设计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45 分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整体设计风格与视觉效果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直男程序员 2 → 正常水准 4 → 美观 6 → 有设计效果 8 → 艺术家 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布局结构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杂乱无章 2 → 整齐 4 → 合理排布 6 → 完美布局 8 → 黄金比例 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网页细节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“静态”页面 2 → 有一些交互 4 → 交互充足 6 → 精雕细琢 8 → 按钮皆有细节 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素材质量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马赛克 2 → 表情包 4 → 正常水准 6 → 高质量 8 → 显卡在燃烧 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跳转与导航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只有主页 0 → 合理分页跳转 3 → 想去哪就去哪 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文档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5 分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文档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没有文档 0 → 简单文档 3 → 清晰且完整的代码与设计文档 5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技术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20/30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技术水平（零组 ／ 一组）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10/20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根据代码的技术水平给分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  <a:tr h="333756">
                <a:tc vMerge="1">
                  <a:txBody>
                    <a:bodyPr/>
                    <a:lstStyle/>
                    <a:p/>
                  </a:txBody>
                  <a:tcPr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适配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屏幕适配 + 浏览器适配，不同尺寸 Chrome / IE 下显示正常、无形变缺失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2104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加分项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EBD9FF"/>
                          </a:solidFill>
                          <a:latin typeface="Arial"/>
                          <a:ea typeface="宋体"/>
                        </a:rPr>
                        <a:t>+5～10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  <a:ea typeface="宋体"/>
                        </a:rPr>
                        <a:t>移动端适配 ／ 数据后台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9D5FF"/>
                          </a:solidFill>
                          <a:latin typeface="Arial"/>
                          <a:ea typeface="宋体"/>
                        </a:rPr>
                        <a:t>+5～10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DBFF"/>
                          </a:solidFill>
                          <a:latin typeface="Arial"/>
                          <a:ea typeface="宋体"/>
                        </a:rPr>
                        <a:t>移动端响应式运行 ／ 前后端数据交互与持久化，经技术人员判定有效</a:t>
                      </a:r>
                    </a:p>
                  </a:txBody>
                  <a:tcPr marL="73152" marR="73152" marT="13716" marB="13716" anchor="ctr">
                    <a:lnB w="9525" cap="flat" cmpd="sng" algn="ctr">
                      <a:solidFill>
                        <a:srgbClr val="4C2C8F"/>
                      </a:solidFill>
                    </a:lnB>
                    <a:solidFill>
                      <a:srgbClr val="2A17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.27417322834646,&quot;left&quot;:50.4959842519685,&quot;top&quot;:106.79905511811023,&quot;width&quot;:846.8587401574802}"/>
</p:tagLst>
</file>

<file path=ppt/tags/tag2.xml><?xml version="1.0" encoding="utf-8"?>
<p:tagLst xmlns:p="http://schemas.openxmlformats.org/presentationml/2006/main">
  <p:tag name="KSO_WM_DIAGRAM_VIRTUALLY_FRAME" val="{&quot;height&quot;:315.27417322834646,&quot;left&quot;:50.4959842519685,&quot;top&quot;:106.79905511811023,&quot;width&quot;:846.8587401574802}"/>
</p:tagLst>
</file>

<file path=ppt/tags/tag3.xml><?xml version="1.0" encoding="utf-8"?>
<p:tagLst xmlns:p="http://schemas.openxmlformats.org/presentationml/2006/main">
  <p:tag name="KSO_WM_DIAGRAM_VIRTUALLY_FRAME" val="{&quot;height&quot;:315.27417322834646,&quot;left&quot;:50.4959842519685,&quot;top&quot;:106.79905511811023,&quot;width&quot;:846.8587401574802}"/>
</p:tagLst>
</file>

<file path=ppt/tags/tag4.xml><?xml version="1.0" encoding="utf-8"?>
<p:tagLst xmlns:p="http://schemas.openxmlformats.org/presentationml/2006/main">
  <p:tag name="KSO_WM_DIAGRAM_VIRTUALLY_FRAME" val="{&quot;height&quot;:315.27417322834646,&quot;left&quot;:50.4959842519685,&quot;top&quot;:106.79905511811023,&quot;width&quot;:846.8587401574802}"/>
</p:tagLst>
</file>

<file path=ppt/tags/tag5.xml><?xml version="1.0" encoding="utf-8"?>
<p:tagLst xmlns:p="http://schemas.openxmlformats.org/presentationml/2006/main">
  <p:tag name="KSO_WM_DIAGRAM_VIRTUALLY_FRAME" val="{&quot;height&quot;:315.27417322834646,&quot;left&quot;:50.4959842519685,&quot;top&quot;:106.79905511811023,&quot;width&quot;:846.858740157480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WPS 文字</Application>
  <PresentationFormat/>
  <Paragraphs>189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Arial</vt:lpstr>
      <vt:lpstr>汉仪书宋二KW</vt:lpstr>
      <vt:lpstr>Times New Roman</vt:lpstr>
      <vt:lpstr>黑体</vt:lpstr>
      <vt:lpstr>汉仪中黑KW</vt:lpstr>
      <vt:lpstr>微软雅黑</vt:lpstr>
      <vt:lpstr>方正雅意黑 GB18030L2</vt:lpstr>
      <vt:lpstr>宋体</vt:lpstr>
      <vt:lpstr>Arial Unicode MS</vt:lpstr>
      <vt:lpstr>Calibri</vt:lpstr>
      <vt:lpstr>Helvetica Neue</vt:lpstr>
      <vt:lpstr>Times New Roman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里奥·梅心</cp:lastModifiedBy>
  <cp:revision>45</cp:revision>
  <dcterms:created xsi:type="dcterms:W3CDTF">2026-10-12T01:05:02Z</dcterms:created>
  <dcterms:modified xsi:type="dcterms:W3CDTF">2026-10-12T01:05:02Z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2025-10-16T05:42:31Z</vt:filetime>
  </property>
  <property fmtid="{D5CDD505-2E9C-101B-9397-08002B2CF9AE}" pid="4" name="UsrData">
    <vt:lpwstr>68ebb039a242d5001f0fd575wl</vt:lpwstr>
  </property>
  <property fmtid="{D5CDD505-2E9C-101B-9397-08002B2CF9AE}" pid="5" name="ICV">
    <vt:lpwstr>B494E51B5333495EE931CC6A20E7AEA8_43</vt:lpwstr>
  </property>
  <property fmtid="{D5CDD505-2E9C-101B-9397-08002B2CF9AE}" pid="6" name="KSOProductBuildVer">
    <vt:lpwstr>2052-12.1.26055.26055</vt:lpwstr>
  </property>
</Properties>
</file>